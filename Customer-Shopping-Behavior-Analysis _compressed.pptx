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erriweather"/>
      <p:regular r:id="rId17"/>
    </p:embeddedFont>
    <p:embeddedFont>
      <p:font typeface="Merriweather"/>
      <p:regular r:id="rId18"/>
    </p:embeddedFont>
    <p:embeddedFont>
      <p:font typeface="Merriweather"/>
      <p:regular r:id="rId19"/>
    </p:embeddedFont>
    <p:embeddedFont>
      <p:font typeface="Merriweather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Uncovering spending patterns, customer segments, and product preferences from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3,900 transactions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guide strategic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891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Dataset at a Glance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51321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1857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3,900 Rows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676174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columns of transactional data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951321"/>
            <a:ext cx="6408063" cy="1322189"/>
          </a:xfrm>
          <a:prstGeom prst="roundRect">
            <a:avLst>
              <a:gd name="adj" fmla="val 7205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982" y="31857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Demographics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3676174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Age, Gender, Location, Subscription Status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500324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224" y="473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Purchase Details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5225177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Category, Amount, Season, Size, Color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500324"/>
            <a:ext cx="6408063" cy="1322189"/>
          </a:xfrm>
          <a:prstGeom prst="roundRect">
            <a:avLst>
              <a:gd name="adj" fmla="val 7205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62982" y="473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Behavior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2982" y="5225177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Discounts, Frequency, Ratings, Shipping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0776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missing values in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Rating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imputed using category median.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5776" y="624007"/>
            <a:ext cx="6929914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Preparation in Python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205776" y="1545669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05776" y="1872139"/>
            <a:ext cx="7705249" cy="2286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6" name="Text 3"/>
          <p:cNvSpPr/>
          <p:nvPr/>
        </p:nvSpPr>
        <p:spPr>
          <a:xfrm>
            <a:off x="6205776" y="2020610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Load &amp; Explore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205776" y="2453402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Imported with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; used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05776" y="3107174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05776" y="3433643"/>
            <a:ext cx="7705249" cy="2286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0" name="Text 7"/>
          <p:cNvSpPr/>
          <p:nvPr/>
        </p:nvSpPr>
        <p:spPr>
          <a:xfrm>
            <a:off x="6205776" y="3582114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Clean &amp; Standardize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05776" y="4014907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Imputed missing ratings; renamed columns to snake_case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05776" y="4668679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05776" y="4995148"/>
            <a:ext cx="7705249" cy="2286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4" name="Text 11"/>
          <p:cNvSpPr/>
          <p:nvPr/>
        </p:nvSpPr>
        <p:spPr>
          <a:xfrm>
            <a:off x="6205776" y="5143619"/>
            <a:ext cx="2596277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205776" y="5576411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columns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05776" y="6230183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05776" y="6556653"/>
            <a:ext cx="7705249" cy="2286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8" name="Text 15"/>
          <p:cNvSpPr/>
          <p:nvPr/>
        </p:nvSpPr>
        <p:spPr>
          <a:xfrm>
            <a:off x="6205776" y="6705124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Load to PostgreSQL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205776" y="7137916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Dropped redundant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; pushed to database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82147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Revenue &amp; Spending Insights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90718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29954" y="3757493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75.2k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612493" y="5353883"/>
            <a:ext cx="234315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158k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7599521" y="2862382"/>
            <a:ext cx="34500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Shipping Type vs. Spend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599521" y="3471863"/>
            <a:ext cx="6244709" cy="1981438"/>
          </a:xfrm>
          <a:prstGeom prst="roundRect">
            <a:avLst>
              <a:gd name="adj" fmla="val 480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34074" y="362319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Shipping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952559" y="362319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Avg. Spend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834074" y="428113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952559" y="428113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$58.46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834074" y="493907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952559" y="493907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$60.48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599521" y="570845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 users spend slightly more — a signal for targeted upsell campaigns.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24883"/>
            <a:ext cx="84514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Subscriber vs. Non-Subscriber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0063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1,053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42324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Subscribers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72285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spend: $59.49 | Revenue: $62,645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20063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2,847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42324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Non-Subscribers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72285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spend: $59.87 | Revenue: $170,436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20063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27%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42324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Subscription Rate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472285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Significant growth opportunity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340906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692616"/>
            <a:ext cx="283488" cy="22681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30906" y="5624393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Non-subscribers generate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2.7×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more total revenue — boosting subscriptions is a key lever.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4090"/>
            <a:ext cx="68069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674382"/>
            <a:ext cx="6244709" cy="36173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31355" y="5785590"/>
            <a:ext cx="2359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79.9%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1947032" y="3016858"/>
            <a:ext cx="2839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17.97%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2969087" y="2621042"/>
            <a:ext cx="2359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2.13%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5091470" y="4123968"/>
            <a:ext cx="806648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810" y="4160520"/>
            <a:ext cx="91440" cy="91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66730" y="4146828"/>
            <a:ext cx="578048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Loyal·79.9%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5489734" y="4146828"/>
            <a:ext cx="35504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·79.9%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526286" y="4146828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5091470" y="4349472"/>
            <a:ext cx="1064657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810" y="4386024"/>
            <a:ext cx="91440" cy="914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66730" y="4372332"/>
            <a:ext cx="83605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Returning·17.97%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5695355" y="4372332"/>
            <a:ext cx="40743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·17.97%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5731907" y="4372332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5091470" y="4574977"/>
            <a:ext cx="774859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810" y="4611529"/>
            <a:ext cx="91440" cy="914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66730" y="4597837"/>
            <a:ext cx="54625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New·2.13%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5457944" y="4597837"/>
            <a:ext cx="35504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·2.13%</a:t>
            </a:r>
            <a:endParaRPr lang="en-US" sz="700" dirty="0"/>
          </a:p>
        </p:txBody>
      </p:sp>
      <p:sp>
        <p:nvSpPr>
          <p:cNvPr id="21" name="Text 15"/>
          <p:cNvSpPr/>
          <p:nvPr/>
        </p:nvSpPr>
        <p:spPr>
          <a:xfrm>
            <a:off x="5494496" y="4597837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2" name="Text 16"/>
          <p:cNvSpPr/>
          <p:nvPr/>
        </p:nvSpPr>
        <p:spPr>
          <a:xfrm>
            <a:off x="7599521" y="2569845"/>
            <a:ext cx="42827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Repeat Buyers &amp; Subscriptions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599521" y="315098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 with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&gt;5 purchases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</a:t>
            </a:r>
            <a:endParaRPr lang="en-US" sz="1750" dirty="0"/>
          </a:p>
        </p:txBody>
      </p:sp>
      <p:sp>
        <p:nvSpPr>
          <p:cNvPr id="24" name="Shape 18"/>
          <p:cNvSpPr/>
          <p:nvPr/>
        </p:nvSpPr>
        <p:spPr>
          <a:xfrm>
            <a:off x="7599521" y="3769043"/>
            <a:ext cx="6244709" cy="1981438"/>
          </a:xfrm>
          <a:prstGeom prst="roundRect">
            <a:avLst>
              <a:gd name="adj" fmla="val 480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834074" y="392037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Status</a:t>
            </a:r>
            <a:endParaRPr lang="en-US" sz="1750" dirty="0"/>
          </a:p>
        </p:txBody>
      </p:sp>
      <p:sp>
        <p:nvSpPr>
          <p:cNvPr id="26" name="Text 20"/>
          <p:cNvSpPr/>
          <p:nvPr/>
        </p:nvSpPr>
        <p:spPr>
          <a:xfrm>
            <a:off x="10952559" y="392037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Count</a:t>
            </a:r>
            <a:endParaRPr lang="en-US" sz="1750" dirty="0"/>
          </a:p>
        </p:txBody>
      </p:sp>
      <p:sp>
        <p:nvSpPr>
          <p:cNvPr id="27" name="Text 21"/>
          <p:cNvSpPr/>
          <p:nvPr/>
        </p:nvSpPr>
        <p:spPr>
          <a:xfrm>
            <a:off x="7834074" y="457831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Non-Subscriber</a:t>
            </a:r>
            <a:endParaRPr lang="en-US" sz="1750" dirty="0"/>
          </a:p>
        </p:txBody>
      </p:sp>
      <p:sp>
        <p:nvSpPr>
          <p:cNvPr id="28" name="Text 22"/>
          <p:cNvSpPr/>
          <p:nvPr/>
        </p:nvSpPr>
        <p:spPr>
          <a:xfrm>
            <a:off x="10952559" y="457831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2,518</a:t>
            </a:r>
            <a:endParaRPr lang="en-US" sz="1750" dirty="0"/>
          </a:p>
        </p:txBody>
      </p:sp>
      <p:sp>
        <p:nvSpPr>
          <p:cNvPr id="29" name="Text 23"/>
          <p:cNvSpPr/>
          <p:nvPr/>
        </p:nvSpPr>
        <p:spPr>
          <a:xfrm>
            <a:off x="7834074" y="523625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Subscriber</a:t>
            </a:r>
            <a:endParaRPr lang="en-US" sz="1750" dirty="0"/>
          </a:p>
        </p:txBody>
      </p:sp>
      <p:sp>
        <p:nvSpPr>
          <p:cNvPr id="30" name="Text 24"/>
          <p:cNvSpPr/>
          <p:nvPr/>
        </p:nvSpPr>
        <p:spPr>
          <a:xfrm>
            <a:off x="10952559" y="523625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958</a:t>
            </a:r>
            <a:endParaRPr lang="en-US" sz="1750" dirty="0"/>
          </a:p>
        </p:txBody>
      </p:sp>
      <p:sp>
        <p:nvSpPr>
          <p:cNvPr id="31" name="Text 25"/>
          <p:cNvSpPr/>
          <p:nvPr/>
        </p:nvSpPr>
        <p:spPr>
          <a:xfrm>
            <a:off x="7599521" y="600563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Loyal customers dominate — yet most are still non-subscribers.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5969"/>
            <a:ext cx="105452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Top Products &amp; Discount Dependency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617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Top 5 by Rating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971205"/>
            <a:ext cx="6244709" cy="3917156"/>
          </a:xfrm>
          <a:prstGeom prst="roundRect">
            <a:avLst>
              <a:gd name="adj" fmla="val 24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978825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343" y="312253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146828" y="312253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Rating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629144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77285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Gloves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146828" y="377285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3.86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279463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343" y="442317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Sandals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146828" y="442317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3.84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929783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343" y="507349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Boots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146828" y="507349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3.82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580102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343" y="572381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146828" y="572381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3.80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6230422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637413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Skirt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146828" y="637413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3.78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599521" y="2361724"/>
            <a:ext cx="36787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Most Discount-Dependent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599521" y="2971205"/>
            <a:ext cx="6244709" cy="3917156"/>
          </a:xfrm>
          <a:prstGeom prst="roundRect">
            <a:avLst>
              <a:gd name="adj" fmla="val 24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07141" y="2978825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834074" y="312253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0952559" y="312253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Discount Rate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7607141" y="3629144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834074" y="377285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10952559" y="377285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50.00%</a:t>
            </a:r>
            <a:endParaRPr lang="en-US" sz="1750" dirty="0"/>
          </a:p>
        </p:txBody>
      </p:sp>
      <p:sp>
        <p:nvSpPr>
          <p:cNvPr id="31" name="Shape 29"/>
          <p:cNvSpPr/>
          <p:nvPr/>
        </p:nvSpPr>
        <p:spPr>
          <a:xfrm>
            <a:off x="7607141" y="4279463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834074" y="442317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Sneakers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10952559" y="442317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49.66%</a:t>
            </a:r>
            <a:endParaRPr lang="en-US" sz="1750" dirty="0"/>
          </a:p>
        </p:txBody>
      </p:sp>
      <p:sp>
        <p:nvSpPr>
          <p:cNvPr id="34" name="Shape 32"/>
          <p:cNvSpPr/>
          <p:nvPr/>
        </p:nvSpPr>
        <p:spPr>
          <a:xfrm>
            <a:off x="7607141" y="4929783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834074" y="507349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Coat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10952559" y="507349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49.07%</a:t>
            </a:r>
            <a:endParaRPr lang="en-US" sz="1750" dirty="0"/>
          </a:p>
        </p:txBody>
      </p:sp>
      <p:sp>
        <p:nvSpPr>
          <p:cNvPr id="37" name="Shape 35"/>
          <p:cNvSpPr/>
          <p:nvPr/>
        </p:nvSpPr>
        <p:spPr>
          <a:xfrm>
            <a:off x="7607141" y="5580102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834074" y="572381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Sweater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10952559" y="572381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48.17%</a:t>
            </a:r>
            <a:endParaRPr lang="en-US" sz="1750" dirty="0"/>
          </a:p>
        </p:txBody>
      </p:sp>
      <p:sp>
        <p:nvSpPr>
          <p:cNvPr id="40" name="Shape 38"/>
          <p:cNvSpPr/>
          <p:nvPr/>
        </p:nvSpPr>
        <p:spPr>
          <a:xfrm>
            <a:off x="7607141" y="6230422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834074" y="637413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Pants</a:t>
            </a:r>
            <a:endParaRPr lang="en-US" sz="1750" dirty="0"/>
          </a:p>
        </p:txBody>
      </p:sp>
      <p:sp>
        <p:nvSpPr>
          <p:cNvPr id="42" name="Text 40"/>
          <p:cNvSpPr/>
          <p:nvPr/>
        </p:nvSpPr>
        <p:spPr>
          <a:xfrm>
            <a:off x="10952559" y="637413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47.37%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1129"/>
            <a:ext cx="62399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Revenue by Age Group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15220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5697" y="3182898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62.1k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166797" y="3981093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59.2k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5967424" y="4779288"/>
            <a:ext cx="186452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56k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878375" y="5577483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55.8k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599521" y="2686883"/>
            <a:ext cx="39452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Top 3 Products per Category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599521" y="3296364"/>
            <a:ext cx="6244709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07141" y="3303984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834074" y="344769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952559" y="344769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Products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607141" y="3954304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834074" y="409801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Accessories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0952559" y="409801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Jewelry, Sunglasses, Belt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607141" y="4604623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834074" y="474833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Clothing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10952559" y="474833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Blouse, Pants, Shirt</a:t>
            </a:r>
            <a:endParaRPr lang="en-US" sz="1750" dirty="0"/>
          </a:p>
        </p:txBody>
      </p:sp>
      <p:sp>
        <p:nvSpPr>
          <p:cNvPr id="19" name="Shape 16"/>
          <p:cNvSpPr/>
          <p:nvPr/>
        </p:nvSpPr>
        <p:spPr>
          <a:xfrm>
            <a:off x="7607141" y="5254943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834074" y="539865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Footwear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10952559" y="539865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Sandals, Shoes, Sneakers</a:t>
            </a:r>
            <a:endParaRPr lang="en-US" sz="1750" dirty="0"/>
          </a:p>
        </p:txBody>
      </p:sp>
      <p:sp>
        <p:nvSpPr>
          <p:cNvPr id="22" name="Shape 19"/>
          <p:cNvSpPr/>
          <p:nvPr/>
        </p:nvSpPr>
        <p:spPr>
          <a:xfrm>
            <a:off x="7607141" y="5905262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7834074" y="604897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Outerwear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10952559" y="604897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Jacket, Coat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51" y="586502"/>
            <a:ext cx="9090779" cy="4898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2351" y="5727025"/>
            <a:ext cx="4786432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Power BI Dashboard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712351" y="6567249"/>
            <a:ext cx="4294227" cy="1075849"/>
          </a:xfrm>
          <a:prstGeom prst="roundRect">
            <a:avLst>
              <a:gd name="adj" fmla="val 747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1304" y="676620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3.9K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11304" y="7161967"/>
            <a:ext cx="389632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168027" y="6567249"/>
            <a:ext cx="4294227" cy="1075849"/>
          </a:xfrm>
          <a:prstGeom prst="roundRect">
            <a:avLst>
              <a:gd name="adj" fmla="val 747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66980" y="676620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$59.76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366980" y="7161967"/>
            <a:ext cx="389632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Purchase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623703" y="6567249"/>
            <a:ext cx="4294227" cy="1075849"/>
          </a:xfrm>
          <a:prstGeom prst="roundRect">
            <a:avLst>
              <a:gd name="adj" fmla="val 747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22656" y="676620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3.75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822656" y="7161967"/>
            <a:ext cx="389632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Rating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1181"/>
            <a:ext cx="79246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Business Recommendations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993588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0906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30906" y="3561874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subscriber benefits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993588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73008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973008" y="3561874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to grow the Loyal segment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993588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15111" y="3071455"/>
            <a:ext cx="32590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415111" y="3561874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sales boosts with margin control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741307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30906" y="48191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530906" y="5309592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high-revenue age groups and express-shipping users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4741307"/>
            <a:ext cx="453628" cy="4536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73008" y="48191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973008" y="5309592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 top-rated and best-selling items in campaigns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2026-04-30T12:50:54Z</dcterms:created>
  <dcterms:modified xsi:type="dcterms:W3CDTF">2026-04-30T12:50:54Z</dcterms:modified>
</cp:coreProperties>
</file>